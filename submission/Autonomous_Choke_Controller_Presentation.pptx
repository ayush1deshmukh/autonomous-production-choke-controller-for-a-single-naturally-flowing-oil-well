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8" r:id="rId3"/>
    <p:sldId id="281" r:id="rId4"/>
    <p:sldId id="290" r:id="rId5"/>
    <p:sldId id="293" r:id="rId6"/>
    <p:sldId id="299" r:id="rId7"/>
    <p:sldId id="296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876" y="1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7/24/2026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9F277-D966-5891-8E8E-FE1852E6B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63166A99-EAE2-2E28-993F-D5871297B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4ED88F3D-7791-59C8-716F-0AAD4C669A9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CC82298B-112C-33CB-5F98-D6F1C4A4C6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30513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7CE727-C45C-A6F5-9EE5-AF363B2ADA27}"/>
              </a:ext>
            </a:extLst>
          </p:cNvPr>
          <p:cNvSpPr txBox="1"/>
          <p:nvPr/>
        </p:nvSpPr>
        <p:spPr>
          <a:xfrm>
            <a:off x="602343" y="1714078"/>
            <a:ext cx="10397765" cy="4073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title slide) 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lang="en-US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portal.</a:t>
            </a:r>
            <a:endParaRPr lang="en-US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lang="en-US"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A033A5-F70E-7E73-0B8C-FA62C08DE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99EC04-BCF1-5A69-7D5A-95D43C976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3400" b="1">
                <a:solidFill>
                  <a:srgbClr val="0F172A"/>
                </a:solidFill>
              </a:rPr>
              <a:t>Autonomous Production Choke Controller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 b="0">
                <a:solidFill>
                  <a:srgbClr val="525F73"/>
                </a:solidFill>
              </a:rPr>
              <a:t>for a Single Naturally Flowing Oil Well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10881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525F73"/>
                </a:solidFill>
              </a:rPr>
              <a:t>Brute-force Model Predictive Control  ·  control interval Ts = 1 hour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525F73"/>
                </a:solidFill>
              </a:rPr>
              <a:t>Maximises safe production; refuses targets that cannot be met safely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525F73"/>
                </a:solidFill>
              </a:rPr>
              <a:t/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117A3A"/>
                </a:solidFill>
              </a:rPr>
              <a:t>0 constraint violations across 300 closed-loop runs  |  targets tracked to &lt;1 %  |  98.6 % of max safe rate when target infeasible</a:t>
            </a:r>
          </a:p>
        </p:txBody>
      </p:sp>
    </p:spTree>
    <p:extLst>
      <p:ext uri="{BB962C8B-B14F-4D97-AF65-F5344CB8AC3E}">
        <p14:creationId xmlns:p14="http://schemas.microsoft.com/office/powerpoint/2010/main" val="3319884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r>
              <a:rPr sz="2600" b="1">
                <a:solidFill>
                  <a:srgbClr val="0F172A"/>
                </a:solidFill>
              </a:rPr>
              <a:t>PROCESS UNDERSTANDING &amp; MODEL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362" name="TextBox 15361"/>
          <p:cNvSpPr txBox="1"/>
          <p:nvPr/>
        </p:nvSpPr>
        <p:spPr>
          <a:xfrm>
            <a:off x="502920" y="1188720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1D4FD8"/>
                </a:solidFill>
              </a:rPr>
              <a:t>Step-test results (our own experiments)</a:t>
            </a:r>
          </a:p>
          <a:p>
            <a:pPr lvl="1">
              <a:spcAft>
                <a:spcPts val="500"/>
              </a:spcAft>
            </a:pPr>
            <a:r>
              <a:rPr sz="1100" b="0">
                <a:solidFill>
                  <a:srgbClr val="525F73"/>
                </a:solidFill>
              </a:rPr>
              <a:t>15 choke steps, up and down, 5–20 % magnitude, each held 8 h (≈4× slowest τ) to reach true steady state</a:t>
            </a:r>
          </a:p>
          <a:p>
            <a:pPr lvl="1">
              <a:spcAft>
                <a:spcPts val="500"/>
              </a:spcAft>
            </a:pPr>
            <a:r>
              <a:rPr sz="1100" b="0">
                <a:solidFill>
                  <a:srgbClr val="525F73"/>
                </a:solidFill>
              </a:rPr>
              <a:t>Opening the choke raises Q and FLP, lowers WHP and BHP — one input, four strongly coupled outputs</a:t>
            </a:r>
          </a:p>
          <a:p>
            <a:pPr lvl="1">
              <a:spcAft>
                <a:spcPts val="500"/>
              </a:spcAft>
            </a:pPr>
            <a:r>
              <a:rPr sz="1100" b="0">
                <a:solidFill>
                  <a:srgbClr val="525F73"/>
                </a:solidFill>
              </a:rPr>
              <a:t>Gain dQ/du collapses 3.91 → 0.15 bbl/hr per % across the range (~26×) → the process is strongly nonlinear</a:t>
            </a:r>
          </a:p>
          <a:p>
            <a:pPr lvl="1">
              <a:spcAft>
                <a:spcPts val="500"/>
              </a:spcAft>
            </a:pPr>
            <a:r>
              <a:rPr sz="1100" b="0">
                <a:solidFill>
                  <a:srgbClr val="525F73"/>
                </a:solidFill>
              </a:rPr>
              <a:t>Provided reference dataset used for illustration only — never for fitting, per the problem statement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525F73"/>
                </a:solidFill>
              </a:rPr>
              <a:t/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1D4FD8"/>
                </a:solidFill>
              </a:rPr>
              <a:t>Model assumptions</a:t>
            </a:r>
          </a:p>
          <a:p>
            <a:pPr lvl="1">
              <a:spcAft>
                <a:spcPts val="500"/>
              </a:spcAft>
            </a:pPr>
            <a:r>
              <a:rPr sz="1100" b="0">
                <a:solidFill>
                  <a:srgbClr val="525F73"/>
                </a:solidFill>
              </a:rPr>
              <a:t>Linear IPR (constant productivity index); turbulent tubing friction ∝ Q²; choke orifice Q = Cv·f(u)·√(WHP−FLP)</a:t>
            </a:r>
          </a:p>
          <a:p>
            <a:pPr lvl="1">
              <a:spcAft>
                <a:spcPts val="500"/>
              </a:spcAft>
            </a:pPr>
            <a:r>
              <a:rPr sz="1100" b="0">
                <a:solidFill>
                  <a:srgbClr val="525F73"/>
                </a:solidFill>
              </a:rPr>
              <a:t>One first-order lag per output; dead time negligible (θ ≤ 0.09 h)</a:t>
            </a:r>
          </a:p>
          <a:p>
            <a:pPr lvl="1">
              <a:spcAft>
                <a:spcPts val="500"/>
              </a:spcAft>
            </a:pPr>
            <a:r>
              <a:rPr sz="1100" b="0">
                <a:solidFill>
                  <a:srgbClr val="525F73"/>
                </a:solidFill>
              </a:rPr>
              <a:t>WHT and AP monitored and logged, but not active constraints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525F73"/>
                </a:solidFill>
              </a:rPr>
              <a:t/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1D4FD8"/>
                </a:solidFill>
              </a:rPr>
              <a:t>Dynamic model developed</a:t>
            </a:r>
          </a:p>
          <a:p>
            <a:pPr lvl="1">
              <a:spcAft>
                <a:spcPts val="500"/>
              </a:spcAft>
            </a:pPr>
            <a:r>
              <a:rPr sz="1100" b="1">
                <a:solidFill>
                  <a:srgbClr val="0F172A"/>
                </a:solidFill>
              </a:rPr>
              <a:t>y(k+1) = y(k) + α·( y_ss(u) + d − y(k) ),   α = 1 − e^(−Ts/τ)</a:t>
            </a:r>
          </a:p>
          <a:p>
            <a:pPr lvl="1">
              <a:spcAft>
                <a:spcPts val="500"/>
              </a:spcAft>
            </a:pPr>
            <a:r>
              <a:rPr sz="1100" b="0">
                <a:solidFill>
                  <a:srgbClr val="525F73"/>
                </a:solidFill>
              </a:rPr>
              <a:t>Nonlinearity captured as a piecewise-linear steady-state curve y_ss(u); dynamics stay linear → simple and explainable</a:t>
            </a:r>
          </a:p>
          <a:p>
            <a:pPr lvl="1">
              <a:spcAft>
                <a:spcPts val="500"/>
              </a:spcAft>
            </a:pPr>
            <a:r>
              <a:rPr sz="1100" b="0">
                <a:solidFill>
                  <a:srgbClr val="525F73"/>
                </a:solidFill>
              </a:rPr>
              <a:t>Fitted τ:  Q 0.99 h · WHP 1.18 h · FLP 0.80 h · BHP 1.75 h</a:t>
            </a:r>
          </a:p>
          <a:p>
            <a:pPr lvl="1">
              <a:spcAft>
                <a:spcPts val="500"/>
              </a:spcAft>
            </a:pPr>
            <a:r>
              <a:rPr sz="1100" b="1">
                <a:solidFill>
                  <a:srgbClr val="117A3A"/>
                </a:solidFill>
              </a:rPr>
              <a:t>Validated on HELD-OUT steps: NRMSE 0.09 % (Q), 0.95 % (BHP)</a:t>
            </a:r>
          </a:p>
        </p:txBody>
      </p:sp>
      <p:pic>
        <p:nvPicPr>
          <p:cNvPr id="15363" name="Picture 15362" descr="step_gain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7692" y="1115568"/>
            <a:ext cx="5504014" cy="1965960"/>
          </a:xfrm>
          <a:prstGeom prst="rect">
            <a:avLst/>
          </a:prstGeom>
        </p:spPr>
      </p:pic>
      <p:pic>
        <p:nvPicPr>
          <p:cNvPr id="15364" name="Picture 15363" descr="model_valid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8521" y="3154680"/>
            <a:ext cx="3342357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F172A"/>
                </a:solidFill>
              </a:rPr>
              <a:t>TECHNICAL APPROACH — CONTROL STRATEGY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410" name="TextBox 17409"/>
          <p:cNvSpPr txBox="1"/>
          <p:nvPr/>
        </p:nvSpPr>
        <p:spPr>
          <a:xfrm>
            <a:off x="502920" y="1143000"/>
            <a:ext cx="6035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80" b="1">
                <a:solidFill>
                  <a:srgbClr val="1D4FD8"/>
                </a:solidFill>
              </a:rPr>
              <a:t>Prediction methodology</a:t>
            </a:r>
          </a:p>
          <a:p>
            <a:pPr lvl="1">
              <a:spcAft>
                <a:spcPts val="400"/>
              </a:spcAft>
            </a:pPr>
            <a:r>
              <a:rPr sz="980" b="0">
                <a:solidFill>
                  <a:srgbClr val="525F73"/>
                </a:solidFill>
              </a:rPr>
              <a:t>Enumerate ALL candidate moves within the ramp limit: u ± 5 % on a 0.5 % grid → 21 candidates</a:t>
            </a:r>
          </a:p>
          <a:p>
            <a:pPr lvl="1">
              <a:spcAft>
                <a:spcPts val="400"/>
              </a:spcAft>
            </a:pPr>
            <a:r>
              <a:rPr sz="980" b="0">
                <a:solidFill>
                  <a:srgbClr val="525F73"/>
                </a:solidFill>
              </a:rPr>
              <a:t>Roll each forward 10 h through the identified model (move-blocked: apply, then hold)</a:t>
            </a:r>
          </a:p>
          <a:p>
            <a:pPr lvl="1">
              <a:spcAft>
                <a:spcPts val="400"/>
              </a:spcAft>
            </a:pPr>
            <a:r>
              <a:rPr sz="980" b="0">
                <a:solidFill>
                  <a:srgbClr val="525F73"/>
                </a:solidFill>
              </a:rPr>
              <a:t>Horizon must outrun the slowest lag: BHP τ = 1.75 h, so 10 h ≈ 5.7 τ</a:t>
            </a:r>
          </a:p>
          <a:p>
            <a:pPr lvl="1">
              <a:spcAft>
                <a:spcPts val="400"/>
              </a:spcAft>
            </a:pPr>
            <a:r>
              <a:rPr sz="980" b="0">
                <a:solidFill>
                  <a:srgbClr val="525F73"/>
                </a:solidFill>
              </a:rPr>
              <a:t>Every prediction restarts from the current measurement → model error never compounds</a:t>
            </a:r>
          </a:p>
          <a:p>
            <a:pPr lvl="1">
              <a:spcAft>
                <a:spcPts val="400"/>
              </a:spcAft>
            </a:pPr>
            <a:r>
              <a:rPr sz="980" b="0">
                <a:solidFill>
                  <a:srgbClr val="525F73"/>
                </a:solidFill>
              </a:rPr>
              <a:t>Measurement filter + bias correction remove hunting and steady-state offset</a:t>
            </a:r>
          </a:p>
          <a:p>
            <a:pPr>
              <a:spcAft>
                <a:spcPts val="400"/>
              </a:spcAft>
            </a:pPr>
            <a:r>
              <a:rPr sz="980" b="0">
                <a:solidFill>
                  <a:srgbClr val="525F73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980" b="1">
                <a:solidFill>
                  <a:srgbClr val="1D4FD8"/>
                </a:solidFill>
              </a:rPr>
              <a:t>Choke move selection logic</a:t>
            </a:r>
          </a:p>
          <a:p>
            <a:pPr lvl="1">
              <a:spcAft>
                <a:spcPts val="400"/>
              </a:spcAft>
            </a:pPr>
            <a:r>
              <a:rPr sz="980" b="1">
                <a:solidFill>
                  <a:srgbClr val="0F172A"/>
                </a:solidFill>
              </a:rPr>
              <a:t>J = (Q_pred_end − Q_target)² + 0.05·(Δu)²  → closest to target, penalise large moves</a:t>
            </a:r>
          </a:p>
          <a:p>
            <a:pPr lvl="1">
              <a:spcAft>
                <a:spcPts val="400"/>
              </a:spcAft>
            </a:pPr>
            <a:r>
              <a:rPr sz="980" b="0">
                <a:solidFill>
                  <a:srgbClr val="525F73"/>
                </a:solidFill>
              </a:rPr>
              <a:t>Deterministic tie-breaks: lowest cost → smallest |Δu| → lower choke (conservative)</a:t>
            </a:r>
          </a:p>
          <a:p>
            <a:pPr lvl="1">
              <a:spcAft>
                <a:spcPts val="400"/>
              </a:spcAft>
            </a:pPr>
            <a:r>
              <a:rPr sz="980" b="0">
                <a:solidFill>
                  <a:srgbClr val="525F73"/>
                </a:solidFill>
              </a:rPr>
              <a:t>Deadband: move only if it buys ≥ 2 (bbl/hr)² improvement → zero valve chatter</a:t>
            </a:r>
          </a:p>
          <a:p>
            <a:pPr>
              <a:spcAft>
                <a:spcPts val="400"/>
              </a:spcAft>
            </a:pPr>
            <a:r>
              <a:rPr sz="980" b="0">
                <a:solidFill>
                  <a:srgbClr val="525F73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980" b="1">
                <a:solidFill>
                  <a:srgbClr val="1D4FD8"/>
                </a:solidFill>
              </a:rPr>
              <a:t>Constraint handling</a:t>
            </a:r>
          </a:p>
          <a:p>
            <a:pPr lvl="1">
              <a:spcAft>
                <a:spcPts val="400"/>
              </a:spcAft>
            </a:pPr>
            <a:r>
              <a:rPr sz="980" b="0">
                <a:solidFill>
                  <a:srgbClr val="525F73"/>
                </a:solidFill>
              </a:rPr>
              <a:t>Reject any candidate whose predicted WHP/FLP/BHP breaches limits at ANY point in the horizon</a:t>
            </a:r>
          </a:p>
          <a:p>
            <a:pPr lvl="1">
              <a:spcAft>
                <a:spcPts val="400"/>
              </a:spcAft>
            </a:pPr>
            <a:r>
              <a:rPr sz="980" b="0">
                <a:solidFill>
                  <a:srgbClr val="525F73"/>
                </a:solidFill>
              </a:rPr>
              <a:t>Safety margins inside each hard limit (10/8/15 psi) cover sensor noise + model error + filter lag</a:t>
            </a:r>
          </a:p>
          <a:p>
            <a:pPr lvl="1">
              <a:spcAft>
                <a:spcPts val="400"/>
              </a:spcAft>
            </a:pPr>
            <a:r>
              <a:rPr sz="980" b="0">
                <a:solidFill>
                  <a:srgbClr val="525F73"/>
                </a:solidFill>
              </a:rPr>
              <a:t>If ALL candidates unsafe → pick the least-bad (smallest predicted violation), never lurch</a:t>
            </a:r>
          </a:p>
          <a:p>
            <a:pPr lvl="1">
              <a:spcAft>
                <a:spcPts val="400"/>
              </a:spcAft>
            </a:pPr>
            <a:r>
              <a:rPr sz="980" b="0">
                <a:solidFill>
                  <a:srgbClr val="525F73"/>
                </a:solidFill>
              </a:rPr>
              <a:t>Infeasible target needs no special case: 'open further' is filtered out every step → the controller pins itself at the safe boundary</a:t>
            </a:r>
          </a:p>
        </p:txBody>
      </p:sp>
      <p:pic>
        <p:nvPicPr>
          <p:cNvPr id="17411" name="Picture 17410" descr="dash_reaso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9031" y="1188720"/>
            <a:ext cx="2718537" cy="4709160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6812280" y="605332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525F73"/>
                </a:solidFill>
              </a:rPr>
              <a:t>Live MPC reasoning: every candidate, why each was rejected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0F172A"/>
                </a:solidFill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7410" name="Rounded Rectangle 17409"/>
          <p:cNvSpPr/>
          <p:nvPr/>
        </p:nvSpPr>
        <p:spPr>
          <a:xfrm>
            <a:off x="502920" y="1170432"/>
            <a:ext cx="2670048" cy="868680"/>
          </a:xfrm>
          <a:prstGeom prst="roundRect">
            <a:avLst/>
          </a:prstGeom>
          <a:solidFill>
            <a:srgbClr val="1D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r>
              <a:rPr sz="1200" b="1">
                <a:solidFill>
                  <a:srgbClr val="FFFFFF"/>
                </a:solidFill>
              </a:rPr>
              <a:t>300</a:t>
            </a:r>
          </a:p>
          <a:p>
            <a:r>
              <a:rPr sz="1200" b="1">
                <a:solidFill>
                  <a:srgbClr val="FFFFFF"/>
                </a:solidFill>
              </a:rPr>
              <a:t>closed-loop runs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355848" y="1170432"/>
            <a:ext cx="2670048" cy="868680"/>
          </a:xfrm>
          <a:prstGeom prst="roundRect">
            <a:avLst/>
          </a:prstGeom>
          <a:solidFill>
            <a:srgbClr val="117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r>
              <a:rPr sz="1200" b="1">
                <a:solidFill>
                  <a:srgbClr val="FFFFFF"/>
                </a:solidFill>
              </a:rPr>
              <a:t>0</a:t>
            </a:r>
          </a:p>
          <a:p>
            <a:r>
              <a:rPr sz="1200" b="1">
                <a:solidFill>
                  <a:srgbClr val="FFFFFF"/>
                </a:solidFill>
              </a:rPr>
              <a:t>constraint violations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208776" y="1170432"/>
            <a:ext cx="2670048" cy="868680"/>
          </a:xfrm>
          <a:prstGeom prst="roundRect">
            <a:avLst/>
          </a:prstGeom>
          <a:solidFill>
            <a:srgbClr val="117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r>
              <a:rPr sz="1200" b="1">
                <a:solidFill>
                  <a:srgbClr val="FFFFFF"/>
                </a:solidFill>
              </a:rPr>
              <a:t>98.6 %</a:t>
            </a:r>
          </a:p>
          <a:p>
            <a:r>
              <a:rPr sz="1200" b="1">
                <a:solidFill>
                  <a:srgbClr val="FFFFFF"/>
                </a:solidFill>
              </a:rPr>
              <a:t>of max safe rate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9061704" y="1170432"/>
            <a:ext cx="2670048" cy="868680"/>
          </a:xfrm>
          <a:prstGeom prst="roundRect">
            <a:avLst/>
          </a:prstGeom>
          <a:solidFill>
            <a:srgbClr val="1D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r>
              <a:rPr sz="1200" b="1">
                <a:solidFill>
                  <a:srgbClr val="FFFFFF"/>
                </a:solidFill>
              </a:rPr>
              <a:t>19/19</a:t>
            </a:r>
          </a:p>
          <a:p>
            <a:r>
              <a:rPr sz="1200" b="1">
                <a:solidFill>
                  <a:srgbClr val="FFFFFF"/>
                </a:solidFill>
              </a:rPr>
              <a:t>tests passing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502920" y="2240280"/>
            <a:ext cx="5669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80" b="1">
                <a:solidFill>
                  <a:srgbClr val="1D4FD8"/>
                </a:solidFill>
              </a:rPr>
              <a:t>Feasibility — proven, not asserted</a:t>
            </a:r>
          </a:p>
          <a:p>
            <a:pPr lvl="1">
              <a:spcAft>
                <a:spcPts val="400"/>
              </a:spcAft>
            </a:pPr>
            <a:r>
              <a:rPr sz="980" b="0">
                <a:solidFill>
                  <a:srgbClr val="525F73"/>
                </a:solidFill>
              </a:rPr>
              <a:t>Monte-Carlo: 100 independent noise seeds × 3 scenarios; envelope checked on every sample</a:t>
            </a:r>
          </a:p>
          <a:p>
            <a:pPr lvl="1">
              <a:spcAft>
                <a:spcPts val="400"/>
              </a:spcAft>
            </a:pPr>
            <a:r>
              <a:rPr sz="980" b="0">
                <a:solidFill>
                  <a:srgbClr val="525F73"/>
                </a:solidFill>
              </a:rPr>
              <a:t>Worst margin to any limit: A +26 psi · B +16 psi · C +3.2 psi</a:t>
            </a:r>
          </a:p>
          <a:p>
            <a:pPr lvl="1">
              <a:spcAft>
                <a:spcPts val="400"/>
              </a:spcAft>
            </a:pPr>
            <a:r>
              <a:rPr sz="980" b="0">
                <a:solidFill>
                  <a:srgbClr val="525F73"/>
                </a:solidFill>
              </a:rPr>
              <a:t>Runs end-to-end in ~2 min; no GPU, no internet, no solver library</a:t>
            </a:r>
          </a:p>
          <a:p>
            <a:pPr>
              <a:spcAft>
                <a:spcPts val="400"/>
              </a:spcAft>
            </a:pPr>
            <a:r>
              <a:rPr sz="980" b="0">
                <a:solidFill>
                  <a:srgbClr val="525F73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980" b="1">
                <a:solidFill>
                  <a:srgbClr val="B91C1C"/>
                </a:solidFill>
              </a:rPr>
              <a:t>Challenges found — and fixed</a:t>
            </a:r>
          </a:p>
          <a:p>
            <a:pPr lvl="1">
              <a:spcAft>
                <a:spcPts val="400"/>
              </a:spcAft>
            </a:pPr>
            <a:r>
              <a:rPr sz="980" b="0">
                <a:solidFill>
                  <a:srgbClr val="525F73"/>
                </a:solidFill>
              </a:rPr>
              <a:t>Horizon shorter than the slowest lag → BHP kept falling after the horizon (11/100 runs breached)</a:t>
            </a:r>
          </a:p>
          <a:p>
            <a:pPr lvl="1">
              <a:spcAft>
                <a:spcPts val="400"/>
              </a:spcAft>
            </a:pPr>
            <a:r>
              <a:rPr sz="980" b="0">
                <a:solidFill>
                  <a:srgbClr val="525F73"/>
                </a:solidFill>
              </a:rPr>
              <a:t>Coarse step-test knots → chord across a convex curve over-estimated BHP by 8 psi (unsafe direction)</a:t>
            </a:r>
          </a:p>
          <a:p>
            <a:pPr lvl="1">
              <a:spcAft>
                <a:spcPts val="400"/>
              </a:spcAft>
            </a:pPr>
            <a:r>
              <a:rPr sz="980" b="1">
                <a:solidFill>
                  <a:srgbClr val="0F172A"/>
                </a:solidFill>
              </a:rPr>
              <a:t>Both passed single-run testing; only the Monte-Carlo exposed them</a:t>
            </a:r>
          </a:p>
          <a:p>
            <a:pPr>
              <a:spcAft>
                <a:spcPts val="400"/>
              </a:spcAft>
            </a:pPr>
            <a:r>
              <a:rPr sz="980" b="0">
                <a:solidFill>
                  <a:srgbClr val="525F73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980" b="1">
                <a:solidFill>
                  <a:srgbClr val="1D4FD8"/>
                </a:solidFill>
              </a:rPr>
              <a:t>Risk strategy</a:t>
            </a:r>
          </a:p>
          <a:p>
            <a:pPr lvl="1">
              <a:spcAft>
                <a:spcPts val="400"/>
              </a:spcAft>
            </a:pPr>
            <a:r>
              <a:rPr sz="980" b="0">
                <a:solidFill>
                  <a:srgbClr val="525F73"/>
                </a:solidFill>
              </a:rPr>
              <a:t>Margins sized for noise + model error + filter lag, and re-verified over 300 runs</a:t>
            </a:r>
          </a:p>
          <a:p>
            <a:pPr lvl="1">
              <a:spcAft>
                <a:spcPts val="400"/>
              </a:spcAft>
            </a:pPr>
            <a:r>
              <a:rPr sz="980" b="0">
                <a:solidFill>
                  <a:srgbClr val="525F73"/>
                </a:solidFill>
              </a:rPr>
              <a:t>Cost of safety quantified, not hidden: 2.3 bbl/hr (1.4 %) below the theoretical max</a:t>
            </a:r>
          </a:p>
          <a:p>
            <a:pPr lvl="1">
              <a:spcAft>
                <a:spcPts val="400"/>
              </a:spcAft>
            </a:pPr>
            <a:r>
              <a:rPr sz="980" b="0">
                <a:solidFill>
                  <a:srgbClr val="525F73"/>
                </a:solidFill>
              </a:rPr>
              <a:t>Controller reads ONLY step() outputs → official simulator drops in with zero changes (proven by a test against a different plant)</a:t>
            </a:r>
          </a:p>
        </p:txBody>
      </p:sp>
      <p:pic>
        <p:nvPicPr>
          <p:cNvPr id="17415" name="Picture 17414" descr="robustn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3428113"/>
            <a:ext cx="5486400" cy="1601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09052-50AE-B3C2-6A1C-5CFF37D94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5E03BF1A-7989-5C44-934B-D93E14918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0F172A"/>
                </a:solidFill>
              </a:rPr>
              <a:t>ARTIFACTS — RESULTS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14AAA-63FC-5F17-FE74-5405495A1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C6332B-BBD9-799D-50C5-6A19BC85E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7410" name="TextBox 17409"/>
          <p:cNvSpPr txBox="1"/>
          <p:nvPr/>
        </p:nvSpPr>
        <p:spPr>
          <a:xfrm>
            <a:off x="502920" y="1115568"/>
            <a:ext cx="53949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919" b="1">
                <a:solidFill>
                  <a:srgbClr val="1D4FD8"/>
                </a:solidFill>
              </a:rPr>
              <a:t>Scenario outcomes &amp; tracking performance</a:t>
            </a:r>
          </a:p>
          <a:p>
            <a:pPr lvl="1">
              <a:spcAft>
                <a:spcPts val="300"/>
              </a:spcAft>
            </a:pPr>
            <a:r>
              <a:rPr sz="919" b="0">
                <a:solidFill>
                  <a:srgbClr val="525F73"/>
                </a:solidFill>
              </a:rPr>
              <a:t>A — Startup to target: settled 121.0 ± 0.6 bbl/hr (target 120) · choke 33.5 % · min BHP 2184 psi · 0.8 % error</a:t>
            </a:r>
          </a:p>
          <a:p>
            <a:pPr lvl="1">
              <a:spcAft>
                <a:spcPts val="300"/>
              </a:spcAft>
            </a:pPr>
            <a:r>
              <a:rPr sz="919" b="0">
                <a:solidFill>
                  <a:srgbClr val="525F73"/>
                </a:solidFill>
              </a:rPr>
              <a:t>B — Target tracking 100→150: settled 150.8 ± 0.8 bbl/hr (target 150) · choke 50.0 % · min BHP 1989 psi · 0.5 % error</a:t>
            </a:r>
          </a:p>
          <a:p>
            <a:pPr lvl="1">
              <a:spcAft>
                <a:spcPts val="300"/>
              </a:spcAft>
            </a:pPr>
            <a:r>
              <a:rPr sz="919" b="0">
                <a:solidFill>
                  <a:srgbClr val="525F73"/>
                </a:solidFill>
              </a:rPr>
              <a:t>C — Infeasible target 200: settled 162.7 ± 0.9 bbl/hr (target 200) · choke 64.0 % · min BHP 1906 psi · capped at max safe rate</a:t>
            </a:r>
          </a:p>
          <a:p>
            <a:pPr>
              <a:spcAft>
                <a:spcPts val="300"/>
              </a:spcAft>
            </a:pPr>
            <a:r>
              <a:rPr sz="919" b="0">
                <a:solidFill>
                  <a:srgbClr val="525F73"/>
                </a:solidFill>
              </a:rPr>
              <a:t/>
            </a:r>
          </a:p>
          <a:p>
            <a:pPr>
              <a:spcAft>
                <a:spcPts val="300"/>
              </a:spcAft>
            </a:pPr>
            <a:r>
              <a:rPr sz="919" b="1">
                <a:solidFill>
                  <a:srgbClr val="1D4FD8"/>
                </a:solidFill>
              </a:rPr>
              <a:t>Safety performance</a:t>
            </a:r>
          </a:p>
          <a:p>
            <a:pPr lvl="1">
              <a:spcAft>
                <a:spcPts val="300"/>
              </a:spcAft>
            </a:pPr>
            <a:r>
              <a:rPr sz="919" b="0">
                <a:solidFill>
                  <a:srgbClr val="525F73"/>
                </a:solidFill>
              </a:rPr>
              <a:t>WHP ≥ 320, FLP ≤ 260, BHP ≥ 1900 psi, |Δu| ≤ 5 %/step — held on EVERY sample</a:t>
            </a:r>
          </a:p>
          <a:p>
            <a:pPr lvl="1">
              <a:spcAft>
                <a:spcPts val="300"/>
              </a:spcAft>
            </a:pPr>
            <a:r>
              <a:rPr sz="919" b="0">
                <a:solidFill>
                  <a:srgbClr val="525F73"/>
                </a:solidFill>
              </a:rPr>
              <a:t>Automated PASS/FAIL audit in the pipeline; non-zero exit if any check fails</a:t>
            </a:r>
          </a:p>
          <a:p>
            <a:pPr>
              <a:spcAft>
                <a:spcPts val="300"/>
              </a:spcAft>
            </a:pPr>
            <a:r>
              <a:rPr sz="919" b="0">
                <a:solidFill>
                  <a:srgbClr val="525F73"/>
                </a:solidFill>
              </a:rPr>
              <a:t/>
            </a:r>
          </a:p>
          <a:p>
            <a:pPr>
              <a:spcAft>
                <a:spcPts val="300"/>
              </a:spcAft>
            </a:pPr>
            <a:r>
              <a:rPr sz="919" b="1">
                <a:solidFill>
                  <a:srgbClr val="1D4FD8"/>
                </a:solidFill>
              </a:rPr>
              <a:t>Deliverables</a:t>
            </a:r>
          </a:p>
          <a:p>
            <a:pPr lvl="1">
              <a:spcAft>
                <a:spcPts val="300"/>
              </a:spcAft>
            </a:pPr>
            <a:r>
              <a:rPr sz="919" b="0">
                <a:solidFill>
                  <a:srgbClr val="525F73"/>
                </a:solidFill>
              </a:rPr>
              <a:t>Simulator · step tests · model ID · MPC · 3 scenarios · Monte-Carlo · 19 tests · dashboard · report</a:t>
            </a:r>
          </a:p>
          <a:p>
            <a:pPr lvl="1">
              <a:spcAft>
                <a:spcPts val="300"/>
              </a:spcAft>
            </a:pPr>
            <a:r>
              <a:rPr sz="919" b="1">
                <a:solidFill>
                  <a:srgbClr val="0F172A"/>
                </a:solidFill>
              </a:rPr>
              <a:t>One command reproduces everything:  python run_all.py</a:t>
            </a:r>
          </a:p>
        </p:txBody>
      </p:sp>
      <p:pic>
        <p:nvPicPr>
          <p:cNvPr id="17411" name="Picture 17410" descr="dash_scenarioC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544" y="1115568"/>
            <a:ext cx="4462272" cy="2788920"/>
          </a:xfrm>
          <a:prstGeom prst="rect">
            <a:avLst/>
          </a:prstGeom>
        </p:spPr>
      </p:pic>
      <p:pic>
        <p:nvPicPr>
          <p:cNvPr id="17412" name="Picture 17411" descr="scenarios_compa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4711" y="4041648"/>
            <a:ext cx="4703536" cy="2240280"/>
          </a:xfrm>
          <a:prstGeom prst="rect">
            <a:avLst/>
          </a:prstGeom>
        </p:spPr>
      </p:pic>
      <p:sp>
        <p:nvSpPr>
          <p:cNvPr id="17413" name="TextBox 17412"/>
          <p:cNvSpPr txBox="1"/>
          <p:nvPr/>
        </p:nvSpPr>
        <p:spPr>
          <a:xfrm>
            <a:off x="502920" y="629107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525F73"/>
                </a:solidFill>
              </a:rPr>
              <a:t>All three scenarios: target tracked when feasible (A, B); refused and capped at the safe maximum when not (C) — BHP rests on its limit without ever crossing it.</a:t>
            </a:r>
          </a:p>
        </p:txBody>
      </p:sp>
    </p:spTree>
    <p:extLst>
      <p:ext uri="{BB962C8B-B14F-4D97-AF65-F5344CB8AC3E}">
        <p14:creationId xmlns:p14="http://schemas.microsoft.com/office/powerpoint/2010/main" val="973447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0F172A"/>
                </a:solidFill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7410" name="TextBox 17409"/>
          <p:cNvSpPr txBox="1"/>
          <p:nvPr/>
        </p:nvSpPr>
        <p:spPr>
          <a:xfrm>
            <a:off x="502920" y="1188720"/>
            <a:ext cx="5669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1D4FD8"/>
                </a:solidFill>
              </a:rPr>
              <a:t>Lessons learned</a:t>
            </a:r>
          </a:p>
          <a:p>
            <a:pPr lvl="1">
              <a:spcAft>
                <a:spcPts val="500"/>
              </a:spcAft>
            </a:pPr>
            <a:r>
              <a:rPr sz="1100" b="0">
                <a:solidFill>
                  <a:srgbClr val="525F73"/>
                </a:solidFill>
              </a:rPr>
              <a:t>Where you place step-test knots is a SAFETY decision — linear interpolation across a convex curve is optimistic exactly where the constraint binds</a:t>
            </a:r>
          </a:p>
          <a:p>
            <a:pPr lvl="1">
              <a:spcAft>
                <a:spcPts val="500"/>
              </a:spcAft>
            </a:pPr>
            <a:r>
              <a:rPr sz="1100" b="0">
                <a:solidFill>
                  <a:srgbClr val="525F73"/>
                </a:solidFill>
              </a:rPr>
              <a:t>A horizon shorter than the slowest time constant is not conservative, it is unsafe</a:t>
            </a:r>
          </a:p>
          <a:p>
            <a:pPr lvl="1">
              <a:spcAft>
                <a:spcPts val="500"/>
              </a:spcAft>
            </a:pPr>
            <a:r>
              <a:rPr sz="1100" b="0">
                <a:solidFill>
                  <a:srgbClr val="525F73"/>
                </a:solidFill>
              </a:rPr>
              <a:t>One good run is not evidence; a safety claim about a stochastic system needs a distribution</a:t>
            </a:r>
          </a:p>
          <a:p>
            <a:pPr lvl="1">
              <a:spcAft>
                <a:spcPts val="500"/>
              </a:spcAft>
            </a:pPr>
            <a:r>
              <a:rPr sz="1100" b="0">
                <a:solidFill>
                  <a:srgbClr val="525F73"/>
                </a:solidFill>
              </a:rPr>
              <a:t>Margins must cover estimator lag and model error, not just sensor noise</a:t>
            </a:r>
          </a:p>
          <a:p>
            <a:pPr lvl="1">
              <a:spcAft>
                <a:spcPts val="500"/>
              </a:spcAft>
            </a:pPr>
            <a:r>
              <a:rPr sz="1100" b="0">
                <a:solidFill>
                  <a:srgbClr val="525F73"/>
                </a:solidFill>
              </a:rPr>
              <a:t>Every filter is a trade: ours removed constraint hunting but cost response lag that had to be paid for in margin</a:t>
            </a:r>
          </a:p>
          <a:p>
            <a:pPr lvl="1">
              <a:spcAft>
                <a:spcPts val="500"/>
              </a:spcAft>
            </a:pPr>
            <a:r>
              <a:rPr sz="1100" b="0">
                <a:solidFill>
                  <a:srgbClr val="525F73"/>
                </a:solidFill>
              </a:rPr>
              <a:t>Infeasibility needs no special-case code — it falls out of predict → filter → select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525F73"/>
                </a:solidFill>
              </a:rPr>
              <a:t/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1D4FD8"/>
                </a:solidFill>
              </a:rPr>
              <a:t>Engineering references</a:t>
            </a:r>
          </a:p>
          <a:p>
            <a:pPr lvl="1">
              <a:spcAft>
                <a:spcPts val="500"/>
              </a:spcAft>
            </a:pPr>
            <a:r>
              <a:rPr sz="1100" b="0">
                <a:solidFill>
                  <a:srgbClr val="525F73"/>
                </a:solidFill>
              </a:rPr>
              <a:t>Inflow performance / linear IPR (constant productivity index) — standard above bubble point</a:t>
            </a:r>
          </a:p>
          <a:p>
            <a:pPr lvl="1">
              <a:spcAft>
                <a:spcPts val="500"/>
              </a:spcAft>
            </a:pPr>
            <a:r>
              <a:rPr sz="1100" b="0">
                <a:solidFill>
                  <a:srgbClr val="525F73"/>
                </a:solidFill>
              </a:rPr>
              <a:t>Choke orifice / valve-sizing relation Q = Cv·f(u)·√ΔP</a:t>
            </a:r>
          </a:p>
          <a:p>
            <a:pPr lvl="1">
              <a:spcAft>
                <a:spcPts val="500"/>
              </a:spcAft>
            </a:pPr>
            <a:r>
              <a:rPr sz="1100" b="0">
                <a:solidFill>
                  <a:srgbClr val="525F73"/>
                </a:solidFill>
              </a:rPr>
              <a:t>Dynamic Matrix Control: move blocking, output disturbance (bias) estimation, constraint back-off</a:t>
            </a:r>
          </a:p>
          <a:p>
            <a:pPr lvl="1">
              <a:spcAft>
                <a:spcPts val="500"/>
              </a:spcAft>
            </a:pPr>
            <a:r>
              <a:rPr sz="1100" b="0">
                <a:solidFill>
                  <a:srgbClr val="525F73"/>
                </a:solidFill>
              </a:rPr>
              <a:t>Open-loop step testing and FOPDT identification for control-oriented models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6355080" y="1188720"/>
            <a:ext cx="5440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1D4FD8"/>
                </a:solidFill>
              </a:rPr>
              <a:t>Provided material used</a:t>
            </a:r>
          </a:p>
          <a:p>
            <a:pPr lvl="1">
              <a:spcAft>
                <a:spcPts val="500"/>
              </a:spcAft>
            </a:pPr>
            <a:r>
              <a:rPr sz="1100" b="0">
                <a:solidFill>
                  <a:srgbClr val="525F73"/>
                </a:solidFill>
              </a:rPr>
              <a:t>Autonomous_Choke_Control_Simulated_Dataset.csv — reference only, as the problem statement directs; never used to fit the model</a:t>
            </a:r>
          </a:p>
          <a:p>
            <a:pPr lvl="1">
              <a:spcAft>
                <a:spcPts val="500"/>
              </a:spcAft>
            </a:pPr>
            <a:r>
              <a:rPr sz="1100" b="0">
                <a:solidFill>
                  <a:srgbClr val="525F73"/>
                </a:solidFill>
              </a:rPr>
              <a:t>Compared against our physics stand-in and the differences reported openly (reference is near-linear; its FLP falls with rate)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525F73"/>
                </a:solidFill>
              </a:rPr>
              <a:t/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1D4FD8"/>
                </a:solidFill>
              </a:rPr>
              <a:t>Project artifacts</a:t>
            </a:r>
          </a:p>
          <a:p>
            <a:pPr lvl="1">
              <a:spcAft>
                <a:spcPts val="500"/>
              </a:spcAft>
            </a:pPr>
            <a:r>
              <a:rPr sz="1100" b="0">
                <a:solidFill>
                  <a:srgbClr val="525F73"/>
                </a:solidFill>
              </a:rPr>
              <a:t>src/  well_simulator · model · controller · simulator_interface</a:t>
            </a:r>
          </a:p>
          <a:p>
            <a:pPr lvl="1">
              <a:spcAft>
                <a:spcPts val="500"/>
              </a:spcAft>
            </a:pPr>
            <a:r>
              <a:rPr sz="1100" b="0">
                <a:solidFill>
                  <a:srgbClr val="525F73"/>
                </a:solidFill>
              </a:rPr>
              <a:t>scripts/  reference EDA · step tests · model ID · scenarios · robustness · capture · PDF</a:t>
            </a:r>
          </a:p>
          <a:p>
            <a:pPr lvl="1">
              <a:spcAft>
                <a:spcPts val="500"/>
              </a:spcAft>
            </a:pPr>
            <a:r>
              <a:rPr sz="1100" b="0">
                <a:solidFill>
                  <a:srgbClr val="525F73"/>
                </a:solidFill>
              </a:rPr>
              <a:t>tests/  19 tests incl. a swap-in proof against a different plant</a:t>
            </a:r>
          </a:p>
          <a:p>
            <a:pPr lvl="1">
              <a:spcAft>
                <a:spcPts val="500"/>
              </a:spcAft>
            </a:pPr>
            <a:r>
              <a:rPr sz="1100" b="0">
                <a:solidFill>
                  <a:srgbClr val="525F73"/>
                </a:solidFill>
              </a:rPr>
              <a:t>dashboard/  self-contained HTML/JS demo (no build, no server needed)</a:t>
            </a:r>
          </a:p>
          <a:p>
            <a:pPr lvl="1">
              <a:spcAft>
                <a:spcPts val="500"/>
              </a:spcAft>
            </a:pPr>
            <a:r>
              <a:rPr sz="1100" b="0">
                <a:solidFill>
                  <a:srgbClr val="525F73"/>
                </a:solidFill>
              </a:rPr>
              <a:t>report/ENGINEERING_REPORT.md → submission/ENGINEERING_REPORT.pdf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525F73"/>
                </a:solidFill>
              </a:rPr>
              <a:t/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B91C1C"/>
                </a:solidFill>
              </a:rPr>
              <a:t>Note on the simulator</a:t>
            </a:r>
          </a:p>
          <a:p>
            <a:pPr lvl="1">
              <a:spcAft>
                <a:spcPts val="500"/>
              </a:spcAft>
            </a:pPr>
            <a:r>
              <a:rPr sz="1100" b="0">
                <a:solidFill>
                  <a:srgbClr val="525F73"/>
                </a:solidFill>
              </a:rPr>
              <a:t>The simulator module itself was not supplied, so we built a documented physics-based stand-in from the process description. The controller touches only step()/reset(), so the official simulator substitutes with zero changes.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d546e5e1-5d42-4630-bacd-c69bfdcbd5e8}" enabled="1" method="Standard" siteId="{96ece526-9c7d-48b0-8daf-8b93c90a5d1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7668</TotalTime>
  <Words>320</Words>
  <Application>Microsoft Office PowerPoint</Application>
  <PresentationFormat>Widescreen</PresentationFormat>
  <Paragraphs>60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ＭＳ Ｐゴシック</vt:lpstr>
      <vt:lpstr>Arial</vt:lpstr>
      <vt:lpstr>Calibri</vt:lpstr>
      <vt:lpstr>Times New Roman</vt:lpstr>
      <vt:lpstr>TradeGothic</vt:lpstr>
      <vt:lpstr>Office Theme</vt:lpstr>
      <vt:lpstr>PowerPoint Presentation</vt:lpstr>
      <vt:lpstr>PowerPoint Presentation</vt:lpstr>
      <vt:lpstr> IDEA TITLE</vt:lpstr>
      <vt:lpstr>TECHNICAL APPROACH</vt:lpstr>
      <vt:lpstr>FEASIBILITY AND VIABILITY</vt:lpstr>
      <vt:lpstr>ARTIFACTS</vt:lpstr>
      <vt:lpstr>RESEARCH  AND REFERENCES</vt:lpstr>
    </vt:vector>
  </TitlesOfParts>
  <Manager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Idea Template</dc:title>
  <dc:subject/>
  <cp:keywords/>
  <dc:description/>
  <cp:lastModifiedBy>Ramesh MV (HirePro)</cp:lastModifiedBy>
  <cp:revision>153</cp:revision>
  <dcterms:created xsi:type="dcterms:W3CDTF">2013-12-12T18:46:50Z</dcterms:created>
  <dcterms:modified xsi:type="dcterms:W3CDTF">2026-07-24T16:33:04Z</dcterms:modified>
  <cp:category/>
</cp:coreProperties>
</file>